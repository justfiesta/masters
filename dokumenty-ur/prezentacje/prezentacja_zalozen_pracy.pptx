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7188" autoAdjust="0"/>
  </p:normalViewPr>
  <p:slideViewPr>
    <p:cSldViewPr snapToGrid="0" snapToObjects="1">
      <p:cViewPr varScale="1">
        <p:scale>
          <a:sx n="79" d="100"/>
          <a:sy n="79" d="100"/>
        </p:scale>
        <p:origin x="10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66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 POWIEDZIEĆ: Praca to prototyp silnika przydziału uczniów do szkół, a nie system produkcyjny ani klon VULCAN-a.
O CO ZAPYTAĆ PROMOTORA:
- Czy zakres (algorytm, bez UI, pliki lub proste API) jest dla niego akceptowalny?
- Jaki ma być stosunek części implementacyjnej i eksperymentalnej do teoretycznej?
- Jakie wymagania formalne (objętość, minimalna literatura, język implementacji)?
- Co dokładnie stoi za opisem tematu: czy ma konkretne przykłady lub dane, z których wynika problem?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 POWIEDZIEĆ: Opieramy się na publicznych zasadach rekrutacji. Wewnętrznego algorytmu VULCAN-a nie znamy i nie zakładamy, że to DA.
O CO ZAPYTAĆ:
- </a:t>
            </a:r>
            <a:r>
              <a:rPr lang="pl-PL" dirty="0"/>
              <a:t>Nie wiem czy jest dostęp do systemu działania VULCANA</a:t>
            </a:r>
            <a:r>
              <a:rPr lang="en-US" dirty="0"/>
              <a:t>
- Czy modelujemy jeden przydział, czy kolejne etapy rekrutacji (np. potwierdzanie woli, wolne miejsca)?
DO ZWERYFIKOWANIA W OFICJALNYCH ŹRÓDŁACH: wartości punktów (egzamin, oceny, wyróżnienie, konkursy, wolontariat), limit liczby wyborów, rozstrzyganie remisów punktowych.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 POWIEDZIEĆ: Problem polega na rozdzielaniu ograniczonych miejsc między uczniów o różnych wynikach i preferencjach.
WARTO POKAZAĆ: mały przykład (3 uczniów, 2 szkoły), w którym widać, jak wybór jednego ucznia zmienia możliwości innych.
KLUCZOWE ROZRÓŻNIENIE: błąd algorytmu vs sytuacja zgodna z regułami, która tylko wydaje się niesprawiedliwa (np. uczeń z niższym wynikiem w lepszej szkole, bo inaczej ułożył preferencje).
O CO ZAPYTAĆ: czy to rozróżnienie jest dla promotora istotne i czy tak rozumie problem z opisu tematu.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 POWIEDZIEĆ: Sprawiedliwość to nie jedna miara, tylko kilka kryteriów, które mogą się wykluczać.
DO SPRAWDZENIA W LITERATURZE: w ogólnym przypadku nie da się mieć jednocześnie braku uzasadnionej zazdrości i efektywności Pareto (stąd kompromisy).
O CO ZAPYTAĆ:
- Które kryterium traktujemy jako nadrzędne: zgodność z regułami (priorytety) czy efektywność?
- Jakie </a:t>
            </a:r>
            <a:r>
              <a:rPr lang="en-US" dirty="0" err="1"/>
              <a:t>konkretne</a:t>
            </a:r>
            <a:r>
              <a:rPr lang="en-US" dirty="0"/>
              <a:t> </a:t>
            </a:r>
            <a:r>
              <a:rPr lang="en-US" dirty="0" err="1"/>
              <a:t>metryki</a:t>
            </a:r>
            <a:r>
              <a:rPr lang="pl-PL" dirty="0"/>
              <a:t> posłużą do oceny podejść</a:t>
            </a:r>
            <a:r>
              <a:rPr lang="en-US" dirty="0"/>
              <a:t> (np. liczba par z uzasadnioną zazdrością, średnia pozycja przydzielonej szkoły na liście, rozkład pozycji, liczba </a:t>
            </a:r>
            <a:r>
              <a:rPr lang="en-US" dirty="0" err="1"/>
              <a:t>nieprzydzielonych</a:t>
            </a:r>
            <a:r>
              <a:rPr lang="en-US" dirty="0"/>
              <a:t>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CO POWIEDZIEĆ: To propozycje do zbadania, a nie ostateczna lista. Autorska modyfikacja dopiero po zrozumieniu wyników istniejących metod.
PROPOZYCJA ZAKRESU DO OMÓWIENIA: DA jako baza + TTC + EADA; optymalizacja całościowa jako opcja, jeśli czas pozwoli (może mieć problem ze skalowalnością).
LITERATURA DO SPRAWDZENIA (bez przypisywania wyników przed lekturą): Gale i Shapley (1962) – DA; Shapley i Scarf (1974) – TTC; Abdulkadiroğlu i Sönmez (2003) – school choice; Kesten (2010) oraz Tang i Yu (2014) – EADA.
O CO ZAPYTAĆ: ile algorytmów jest realne na pracę magisterską? Czy promotor ma preferowane </a:t>
            </a:r>
            <a:r>
              <a:rPr lang="en-US" dirty="0" err="1"/>
              <a:t>publikacje</a:t>
            </a:r>
            <a:r>
              <a:rPr lang="en-US" dirty="0"/>
              <a:t>?</a:t>
            </a:r>
            <a:br>
              <a:rPr lang="pl-PL" dirty="0"/>
            </a:br>
            <a:br>
              <a:rPr lang="pl-PL" dirty="0"/>
            </a:br>
            <a:r>
              <a:rPr lang="pl-PL" b="1" dirty="0"/>
              <a:t>Jak działają algorytmy</a:t>
            </a:r>
            <a:endParaRPr lang="pl-PL" dirty="0"/>
          </a:p>
          <a:p>
            <a:r>
              <a:rPr lang="pl-PL" dirty="0"/>
              <a:t>DA – uczniowie aplikują do kolejnych szkół ze swojej listy, szkoły tymczasowo trzymają najlepszych wg priorytetu, wynik jest ostateczny dopiero na końcu.</a:t>
            </a:r>
          </a:p>
          <a:p>
            <a:r>
              <a:rPr lang="pl-PL" dirty="0"/>
              <a:t>TTC – uczniowie i szkoły „wskazują” się nawzajem; gdy powstaje cykl, uczestnicy wymieniają się miejscami.</a:t>
            </a:r>
          </a:p>
          <a:p>
            <a:r>
              <a:rPr lang="pl-PL" dirty="0"/>
              <a:t>EADA – zwykłe DA, potem naprawa zbędnych odrzuceń: uczeń, który zajął miejsce, a potem je stracił, może się go zrzec. Wtedy DA liczy się od nowa.</a:t>
            </a:r>
          </a:p>
          <a:p>
            <a:r>
              <a:rPr lang="pl-PL" dirty="0"/>
              <a:t>Optymalizacja – matematycznie minimalizujemy „koszt” niespełnionych preferencji przy limitach miejsc.</a:t>
            </a:r>
          </a:p>
          <a:p>
            <a:endParaRPr lang="pl-PL" dirty="0"/>
          </a:p>
          <a:p>
            <a:r>
              <a:rPr lang="pl-PL" dirty="0"/>
              <a:t>PRZYKŁAD (3 uczniów, 3 szkoły po 1 miejscu):</a:t>
            </a:r>
          </a:p>
          <a:p>
            <a:r>
              <a:rPr lang="pl-PL" dirty="0"/>
              <a:t>U1: S2&gt;S1&gt;S3, U2 i U3: S1&gt;S2&gt;S3. Priorytety: S1: U1&gt;U2&gt;U3, S2: U3&gt;U1&gt;U2.</a:t>
            </a:r>
          </a:p>
          <a:p>
            <a:r>
              <a:rPr lang="pl-PL" dirty="0"/>
              <a:t>DA: U1→S1, U2→S3, U3→S2. TTC i EADA: U1→S2, U2→S3, U3→S1.</a:t>
            </a:r>
          </a:p>
          <a:p>
            <a:endParaRPr lang="pl-PL" dirty="0"/>
          </a:p>
          <a:p>
            <a:r>
              <a:rPr lang="pl-PL" dirty="0"/>
              <a:t>WNIOSEK Z PRZYKŁADU:</a:t>
            </a:r>
          </a:p>
          <a:p>
            <a:r>
              <a:rPr lang="pl-PL" dirty="0"/>
              <a:t>W DA U1 i U3 mogliby się zamienić i obaj by zyskali (brak efektywności), ale nikt nie ma prawa do cudzego miejsca.</a:t>
            </a:r>
          </a:p>
          <a:p>
            <a:r>
              <a:rPr lang="pl-PL" dirty="0"/>
              <a:t>W TTC zamiana następuje, ale U2 ma wyższy priorytet w S1 niż U3 i woli S1 od S3 (uzasadniona zazdrość).</a:t>
            </a:r>
          </a:p>
          <a:p>
            <a:r>
              <a:rPr lang="pl-PL" dirty="0"/>
              <a:t>Czyli: stabilność kontra efektywność.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 POWIEDZIEĆ: Prototyp ma wspólny model danych, więc wszystkie algorytmy są porównywane na identycznych wejściach.
O CO ZAPYTAĆ:</a:t>
            </a:r>
            <a:endParaRPr lang="pl-PL" dirty="0"/>
          </a:p>
          <a:p>
            <a:r>
              <a:rPr lang="pl-PL" dirty="0"/>
              <a:t>- Jak testować, co testować, co porównywać?</a:t>
            </a:r>
            <a:r>
              <a:rPr lang="en-US" dirty="0"/>
              <a:t>
- Czy dostępne są zanonimizowane lub zagregowane dane z prawdziwych rekrutacji (np. progi punktowe z poprzednich lat), by generator był realistyczniejszy?
PAMIĘTAĆ: ziarno losowe dla powtarzalności, testy na małych przykładach sprawdzanych ręcznie.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 POWIEDZIEĆ: Główny wkład to powtarzalny eksperyment i mierzalne porównanie.
SCENARIUSZE DO OMÓWIENIA: różny poziom rywalizacji (miejsc mniej/więcej niż chętnych), preferencje skorelowane (wszyscy chcą kilku topowych szkół) vs rozproszone, remisy punktowe, różne rozmiary szkół.
O CO ZAPYTAĆ:
- Do jakiej skali liczymy skalowalność (liczba uczniów i szkół)?
- Ile powtórzeń eksperymentów i jakie podejście statystyczne (np. średnie z przedziałami ufności)?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 POWIEDZIEĆ: Nie zakładam z góry, że rozwiązanie alternatywne będzie lepsze. Wynik negatywny (np. DA najlepszy w danych warunkach) też jest wartościowym wnioskiem.
O CO ZAPYTAĆ:
- Czy promotor akceptuje taki wynik?
- Jaki harmonogram: przegląd literatury, ustalenie reguł referencyjnych, wybór zakresu, implementacja, eksperymenty?
- Jakie są kolejne kroki i terminy spotkań?
CZEGO POTRZEBUJĘ OD PROMOTORA: decyzji o zakresie, wskazanych źródeł, ewentualnych danych, </a:t>
            </a:r>
            <a:r>
              <a:rPr lang="en-US" dirty="0" err="1"/>
              <a:t>wymagań</a:t>
            </a:r>
            <a:r>
              <a:rPr lang="en-US" dirty="0"/>
              <a:t> </a:t>
            </a:r>
            <a:r>
              <a:rPr lang="en-US" dirty="0" err="1"/>
              <a:t>formalnych</a:t>
            </a:r>
            <a:r>
              <a:rPr lang="pl-PL" dirty="0"/>
              <a:t>, wymagań co do danych wejściowych (modeli, założeń)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0040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Temat i cel projektu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„Projekt i implementacja prototypu systemu elektronicznej rekrutacji do szkół średnich”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Praca magisterska · prototyp silnika przydziału uczniów do szkół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0020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silnika przydziału uczniów do szkół — nie pełny system i nie klon VULCAN-a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Nacisk na algorytm, implementację i skalowalność, a nie na interfejs i funkcje użytkowe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sprawdzić eksperymentalnie, czy da się poprawić sprawiedliwość przydziału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syntetyczne i powtarzalne eksperymenty, porównanie z mechanizmem bazowym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0040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działa elektroniczna rekrutacja?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 wyjścia i kontekst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Praca magisterska · prototyp silnika przydziału uczniów do szkół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0020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Uczeń układa listę preferencji: szkoły i klasy w wybranej kolejności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Kandydaci mają wyniki rekrutacyjne (egzamin, oceny, osiągnięcia) i zasady pierwszeństwa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</a:t>
            </a:r>
            <a:r>
              <a:rPr lang="pl-PL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klasa i kierunek </a:t>
            </a: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ograniczoną liczbę miejsc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VULCAN jako przykład istniejącego </a:t>
            </a:r>
            <a:r>
              <a:rPr lang="en-US" sz="1800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systemu</a:t>
            </a: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</a:t>
            </a:r>
            <a:r>
              <a:rPr lang="pl-PL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</a:t>
            </a: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znamy </a:t>
            </a:r>
            <a:r>
              <a:rPr lang="en-US" sz="1800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</a:t>
            </a: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zakładamy</a:t>
            </a:r>
            <a:r>
              <a:rPr lang="pl-PL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wewnętrznego</a:t>
            </a:r>
            <a:r>
              <a:rPr lang="pl-PL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działania algorytmu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0040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czym polega problem przydziału?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Choice / School Assignment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Praca magisterska · prototyp silnika przydziału uczniów do szkół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0020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Uczniowie mają różne wyniki i różne preferencje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Szkoły mają ograniczoną pojemność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Przydział jednego ucznia wpływa </a:t>
            </a:r>
            <a:r>
              <a:rPr lang="en-US" sz="1800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80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przydział</a:t>
            </a:r>
            <a:r>
              <a:rPr lang="en-US" sz="180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innych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 może być formalnie poprawny, ale nie zawsze optymalny według każdego kryterium sprawiedliwości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0040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oznacza sprawiedliwy przydział?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Kryteria oceny — to nie to samo co „wyższy wynik = lepsza szkoła”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Praca magisterska · prototyp silnika przydziału uczniów do szkół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023360" cy="137160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64008" cy="13716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 txBox="1"/>
          <p:nvPr/>
        </p:nvSpPr>
        <p:spPr>
          <a:xfrm>
            <a:off x="685800" y="1645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Respektowanie priorytetów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przydział zgadza się z zasadami pierwszeństwa kandydatów.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4023360" cy="137160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64008" cy="13716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 txBox="1"/>
          <p:nvPr/>
        </p:nvSpPr>
        <p:spPr>
          <a:xfrm>
            <a:off x="4892040" y="1645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Spełnienie preferencji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wysoko na liście ucznia znajduje się przydzielona szkoła.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23360" cy="137160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64008" cy="13716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 txBox="1"/>
          <p:nvPr/>
        </p:nvSpPr>
        <p:spPr>
          <a:xfrm>
            <a:off x="685800" y="32004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Efektywność (Pareto)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można poprawić sytuację jednych uczniów bez pogorszenia innych.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4023360" cy="137160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Shape 16"/>
          <p:cNvSpPr/>
          <p:nvPr/>
        </p:nvSpPr>
        <p:spPr>
          <a:xfrm>
            <a:off x="4663440" y="3108960"/>
            <a:ext cx="64008" cy="13716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 txBox="1"/>
          <p:nvPr/>
        </p:nvSpPr>
        <p:spPr>
          <a:xfrm>
            <a:off x="4892040" y="32004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uzasadnionej zazdrości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ktoś woli cudze miejsce i ma do niego wyższy priorytet.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0040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Możliwe podejścia algorytmiczne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można zaimplementować? (propozycje, nie finalny wybór)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Praca magisterska · prototyp silnika przydziału uczniów do szkół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023360" cy="137160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64008" cy="13716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 txBox="1"/>
          <p:nvPr/>
        </p:nvSpPr>
        <p:spPr>
          <a:xfrm>
            <a:off x="685800" y="1645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Acceptance (DA)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 bazowy do porównania; respektuje priorytety, ale nie zawsze jest efektywny.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4023360" cy="137160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64008" cy="13716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 txBox="1"/>
          <p:nvPr/>
        </p:nvSpPr>
        <p:spPr>
          <a:xfrm>
            <a:off x="4892040" y="1645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Trading Cycles (TTC)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Uczniowie „wymieniają się” miejscami w cyklach; efektywny, ale może naruszać priorytety.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23360" cy="137160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64008" cy="13716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 txBox="1"/>
          <p:nvPr/>
        </p:nvSpPr>
        <p:spPr>
          <a:xfrm>
            <a:off x="685800" y="32004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EADA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Wariant DA poprawiający efektywność przy ograniczaniu kompromisów w sprawiedliwości.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4023360" cy="137160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Shape 16"/>
          <p:cNvSpPr/>
          <p:nvPr/>
        </p:nvSpPr>
        <p:spPr>
          <a:xfrm>
            <a:off x="4663440" y="3108960"/>
            <a:ext cx="64008" cy="13716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 txBox="1"/>
          <p:nvPr/>
        </p:nvSpPr>
        <p:spPr>
          <a:xfrm>
            <a:off x="4892040" y="32004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Optymalizacja całości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całkowitoliczbowe: minimalizacja niespełnionych preferencji przy ograniczeniach.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0040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Koncepcja proponowanego rozwiązania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może wyglądać prototyp?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Praca magisterska · prototyp silnika przydziału uczniów do szkół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0020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danych syntetycznych: uczniowie, wyniki, preferencje, szkoły, pojemności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Wspólny model uczniów, preferencji, priorytetów i pojemności szkół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 referencyjny i wybrane alternatywy, porównywane na tych samych danych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Wyniki w plikach (CSV/JSON) lub przez </a:t>
            </a:r>
            <a:r>
              <a:rPr lang="en-US" sz="1800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proste</a:t>
            </a: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</a:t>
            </a:r>
            <a:r>
              <a:rPr lang="pl-PL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0040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będzie testowane i porównywane?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Eksperymenty i mierzalne wyniki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Praca magisterska · prototyp silnika przydziału uczniów do szkół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023360" cy="137160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64008" cy="13716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 txBox="1"/>
          <p:nvPr/>
        </p:nvSpPr>
        <p:spPr>
          <a:xfrm>
            <a:off x="685800" y="1645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Sprawiedliwość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Respektowanie priorytetów i liczba przypadków uzasadnionej zazdrości.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4023360" cy="137160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64008" cy="13716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 txBox="1"/>
          <p:nvPr/>
        </p:nvSpPr>
        <p:spPr>
          <a:xfrm>
            <a:off x="4892040" y="1645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Preferencje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Stopień spełnienia preferencji uczniów, także w różnych grupach.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23360" cy="137160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64008" cy="13716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 txBox="1"/>
          <p:nvPr/>
        </p:nvSpPr>
        <p:spPr>
          <a:xfrm>
            <a:off x="685800" y="32004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Liczba miejsc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Liczba przydzielonych i nieprzydzielonych uczniów.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4023360" cy="137160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Shape 16"/>
          <p:cNvSpPr/>
          <p:nvPr/>
        </p:nvSpPr>
        <p:spPr>
          <a:xfrm>
            <a:off x="4663440" y="3108960"/>
            <a:ext cx="64008" cy="13716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 txBox="1"/>
          <p:nvPr/>
        </p:nvSpPr>
        <p:spPr>
          <a:xfrm>
            <a:off x="4892040" y="32004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Wydajność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działania i skalowalność przy rosnącej liczbie uczniów i szkół.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0040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Oczekiwane rezultaty i kompromisy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chcę ustalić?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Praca magisterska · prototyp silnika przydziału uczniów do szkół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0020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alternatywne algorytmy dają lepsze wyniki niż rozwiązanie bazowe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jakich scenariuszach uzyskuje się poprawę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poprawa sprawiedliwości kosztuje w innych kryteriach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Które rozwiązanie najlepiej łączy sprawiedliwość, efektywność </a:t>
            </a:r>
            <a:r>
              <a:rPr lang="en-US" sz="1800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wydajność</a:t>
            </a:r>
            <a:endParaRPr lang="en-US" sz="1800" dirty="0">
              <a:solidFill>
                <a:srgbClr val="1F2A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200"/>
              </a:spcAft>
              <a:buSzPct val="100000"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1554</Words>
  <Application>Microsoft Office PowerPoint</Application>
  <PresentationFormat>Pokaz na ekranie (16:9)</PresentationFormat>
  <Paragraphs>114</Paragraphs>
  <Slides>8</Slides>
  <Notes>8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Prototyp systemu elektronicznej rekrutacji do szkół średnich</dc:title>
  <dc:subject>PptxGenJS Presentation</dc:subject>
  <dc:creator>PptxGenJS</dc:creator>
  <cp:lastModifiedBy>Mateusz Bocak</cp:lastModifiedBy>
  <cp:revision>4</cp:revision>
  <dcterms:created xsi:type="dcterms:W3CDTF">2026-10-25T19:47:02Z</dcterms:created>
  <dcterms:modified xsi:type="dcterms:W3CDTF">2026-10-25T20:02:13Z</dcterms:modified>
</cp:coreProperties>
</file>